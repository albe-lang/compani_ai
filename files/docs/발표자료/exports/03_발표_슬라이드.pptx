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"오늘은 다중 SLM 협업 시스템 CompaniAI 의 시연과, 이 시스템을 통해 식별한 세 가지 핵심 연구 질문을 말씀드리겠습니다."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"OLaLA 는 LangGraph 9-stage 파이프라인 기반 가짜뉴스 판별 시스템입니다. 핵심은 Stage 6-7 의 이중 대립 에이전트로, 같은 증거를 SLM 두 개가 한 쪽은 지지, 한 쪽은 반박하는 관점으로 독립 분석한 뒤 Judge 가 종합합니다. 결과적으로 단일 LLM 대비 hallucination 이 20% 줄고 정확도 89% 를 달성했습니다.</a:t>
            </a:r>
          </a:p>
          <a:p/>
          <a:p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이 결과에서 한 가지 관찰점이 도출됩니다 — **SLM 도 역할만 잘 분리하면 협업이 가능한데, 왜 기존 멀티에이전트 연구 대부분은 단일 대형 모델 의존 구조인가?** 이게 본 연구의 첫 번째 motivation 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"OLaLA 가 검증한 'SLM 협업의 가능성' 을 더 복잡한 도메인 — 코드 생성 — 으로 확장한 시스템이 CompaniAI 입니다. 사용자가 자연어 한 문장만 입력하면 CTO 가 전략과 작업 분해를 자율 결정하고, 역할별 SLM 들이 SharedWorkspace + MessageQueue 로 협업하며 실제 동작 가능한 코드를 생성합니다. 모든 모델이 로컬 Ollama 로 동작해 비용 0, 16GB Mac 환경에서 재현 가능합니다.</a:t>
            </a:r>
          </a:p>
          <a:p/>
          <a:p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이 시스템을 운영하면서 또 다른 한계가 드러납니다."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"두 한계는 학계가 충분히 다루지 않은 영역입니다. 첫 번째는 ChatDev, MetaGPT 등이 형식상 멀티에이전트지만 단일 LLM 의 system prompt 만 바꿔 반복 호출하는 구조라 비용과 재현성에 한계가 있다는 점.</a:t>
            </a:r>
          </a:p>
          <a:p/>
          <a:p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두 번째는 ExpeL 이 단일 에이전트 경험 누적은 다뤘지만 — 팀 전체가 공유하는 episode 단위 메모리는 미연구 영역이라는 점입니다. 같은 종류의 hallucination 이 task 마다 반복되는 현상이 실제로 관측됩니다.</a:t>
            </a:r>
          </a:p>
          <a:p/>
          <a:p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이 두 한계의 교차점이 RQ 의 출발점입니다."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"현재 구현은 L1, L2, L3 까지 작동합니다. 약 470 개의 단위 테스트가 통과한 상태이고 GitHub 에 공개되어 있습니다.</a:t>
            </a:r>
          </a:p>
          <a:p/>
          <a:p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이 위에 두 가지 확장이 본 연구의 핵심입니다. 하나는 L3 의 통신 계층을 4 가지 프로토콜로 추상화해서 비교 실험할 수 있게 만드는 것 — RQ2. 다른 하나는 L4 집단 실수 메모리를 처음부터 새로 설계하는 것 — RQ3. 그리고 두 axis 의 위에 RQ1 — SLM 팀이 단일 LLM 대비 어떤 task 에서 우위인가 — 가 메타 질문으로 자리합니다."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"Protocol D 가 본 연구의 신규 제안입니다. 모든 메시지를 다 broadcast 하는 대신, 각 메시지에 중요도 점수를 매겨서 임계값 이상만 다음 에이전트에게 전달합니다. 점수는 관련성, 최신성, 심각도 세 요소의 가중합으로 시작하고, 가중치는 그리드 서치로 최적화할 계획입니다. 단순한 가중치 튜닝이 아니라 — 더 본질적으로 — '중요도 기반 선택적 통신' 이라는 패러다임이 자연어 전체 전송보다 효율적인지가 RQ2 의 질문입니다."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"ExpeL 이 단일 에이전트의 경험 누적을 다뤘다면, 본 연구는 팀 전체가 공유하는 **집단** 메모리입니다. 한 에이전트가 한 번 실수한 패턴은 다른 에이전트가 다음 task 에 시작할 때 자동으로 시스템 프롬프트에 주입됩니다. 그리고 같은 패턴이 N=3 번 이상 반복되면 자동으로 '방지 규칙'으로 승격해서 모든 에이전트의 시스템 프롬프트에 고정됩니다. 이 2-tier 구조 — episodic + rule — 이 RQ3 의 핵심 설계입니다."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CompaniAI · Research Proposal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전문화된 다중 SLM 협업 시스템에서</a:t>
            </a:r>
          </a:p>
          <a:p>
            <a:pPr algn="ctr"/>
            <a:r>
              <a:rPr sz="33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최적 통신 프로토콜과 집단 실수 메모리를 활용한</a:t>
            </a:r>
          </a:p>
          <a:p>
            <a:pPr algn="ctr"/>
            <a:r>
              <a:rPr sz="33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자기 개선 프레임워크 연구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83480"/>
            <a:ext cx="1088136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A Self-Improving Framework via Optimal Communication Protocols and Collective Error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5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2026년 4월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민덕기 교수님 + NLP/에이전트 랩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목차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63040"/>
            <a:ext cx="548640" cy="54864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527048"/>
            <a:ext cx="9144000" cy="45720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배경 — 멀티에이전트 SLM 협업의 두 가지 한계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214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185416"/>
            <a:ext cx="9144000" cy="45720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라이브 데모 — CompaniAI v1.1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79776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843784"/>
            <a:ext cx="9144000" cy="45720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시스템 아키텍처 — 4계층 구조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438144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502151"/>
            <a:ext cx="9144000" cy="45720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연구 질문 — 3개의 RQ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096511"/>
            <a:ext cx="548640" cy="54864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160520"/>
            <a:ext cx="9144000" cy="45720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실험 설계 — 3개 실험 매트릭스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754879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818888"/>
            <a:ext cx="9144000" cy="45720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일정 · 학술적 위치 · 마무리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413247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477255"/>
            <a:ext cx="9144000" cy="45720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출발점 ① OLaLA — 가짜뉴스 판별 다중 에이전트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74320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800" b="1" i="0">
                <a:solidFill>
                  <a:srgbClr val="4338CA"/>
                </a:solidFill>
                <a:latin typeface="Helvetica Neue"/>
                <a:ea typeface="Apple SD Gothic Neo"/>
                <a:cs typeface="Helvetica Neue"/>
              </a:rPr>
              <a:t>Team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7432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Stage 1–5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7432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증거 수집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82880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965960"/>
            <a:ext cx="274320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  <a:latin typeface="Helvetica Neue"/>
                <a:ea typeface="Apple SD Gothic Neo"/>
                <a:cs typeface="Helvetica Neue"/>
              </a:rPr>
              <a:t>Team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331720"/>
            <a:ext cx="27432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Stage 6–8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06040"/>
            <a:ext cx="27432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이중 대립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82880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965960"/>
            <a:ext cx="274320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Helvetica Neue"/>
                <a:ea typeface="Apple SD Gothic Neo"/>
                <a:cs typeface="Helvetica Neue"/>
              </a:rPr>
              <a:t>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31720"/>
            <a:ext cx="27432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Stage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06040"/>
            <a:ext cx="27432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최종 판정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03320" y="2423160"/>
            <a:ext cx="960120" cy="0"/>
          </a:xfrm>
          <a:prstGeom prst="line">
            <a:avLst/>
          </a:prstGeom>
          <a:ln w="317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98079" y="2423160"/>
            <a:ext cx="960121" cy="0"/>
          </a:xfrm>
          <a:prstGeom prst="line">
            <a:avLst/>
          </a:prstGeom>
          <a:ln w="317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23360" y="3200400"/>
            <a:ext cx="4114800" cy="6400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3246120"/>
            <a:ext cx="4114800" cy="5486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0" i="1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SLM 두 개가 같은 증거를 ① 지지 / ② 반박 관점 독립 분석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206240"/>
            <a:ext cx="10332720" cy="15544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97680"/>
            <a:ext cx="1005840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핵심 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091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• 단일 LLM 대비 hallucination ↓ 약 20%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• 정확도 89% 달성</a:t>
            </a:r>
          </a:p>
          <a:p>
            <a:pPr algn="l"/>
            <a:r>
              <a:rPr sz="14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• 역할 분리만으로 SLM도 충분히 동작 → 첫 의문 도출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출발점 ② CompaniAI — 사용자 한 문장 → 자동 소프트웨어 생성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188720"/>
            <a:ext cx="3931920" cy="6400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188720"/>
            <a:ext cx="3931920" cy="64008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400" b="1" i="1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사용자: "Todo REST API 만들어줘"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1828800"/>
            <a:ext cx="0" cy="36576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2194560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240280"/>
            <a:ext cx="393192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CTO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606040"/>
            <a:ext cx="393192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qwen3:8b · 전략 + 작업 분해 (자율)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3063240"/>
            <a:ext cx="0" cy="32004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554480" y="3383280"/>
            <a:ext cx="2743200" cy="77724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429000"/>
            <a:ext cx="27432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Backend SLM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49040"/>
            <a:ext cx="27432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gemma4:e4b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3383280"/>
            <a:ext cx="2743200" cy="77724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3429000"/>
            <a:ext cx="27432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Frontend SLM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749040"/>
            <a:ext cx="27432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gemma4:e4b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383280"/>
            <a:ext cx="2743200" cy="77724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429000"/>
            <a:ext cx="27432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MLOps SLM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749040"/>
            <a:ext cx="27432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llama3.2:3b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434840"/>
            <a:ext cx="10332720" cy="5486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SharedWorkspace + MessageQueue  ·  Q&amp;A · Emergency Meeting · Peer Review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4983480"/>
            <a:ext cx="0" cy="36576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57600" y="5349240"/>
            <a:ext cx="4846320" cy="73152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5349240"/>
            <a:ext cx="484632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outputs/todo-rest-api/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669280"/>
            <a:ext cx="484632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backend/ · frontend/ · deploy/  (~15 files)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GitHub AlBe-lang/compani_ai  ·  470+ 단위 테스트  ·  Mac Mini M4 16GB 동작 검증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두 가지 한계 — Research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166360" cy="41148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489204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Helvetica Neue"/>
                <a:ea typeface="Apple SD Gothic Neo"/>
                <a:cs typeface="Helvetica Neue"/>
              </a:rPr>
              <a:t>한계 ①   단일 LLM 의존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8920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ChatDev / MetaGPT / AutoGPT 등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기존 멀티에이전트 연구는 형식상 여러 에이전트를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두지만, 실제로는 GPT-4 같은 단일 대형 모델을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system prompt만 바꿔 반복 호출하는 구조.</a:t>
            </a:r>
          </a:p>
          <a:p>
            <a:pPr algn="l"/>
          </a:p>
          <a:p>
            <a:pPr algn="l"/>
            <a:r>
              <a:rPr sz="1300" b="1" i="0">
                <a:solidFill>
                  <a:srgbClr val="DC2626"/>
                </a:solidFill>
                <a:latin typeface="Helvetica Neue"/>
                <a:ea typeface="Apple SD Gothic Neo"/>
                <a:cs typeface="Helvetica Neue"/>
              </a:rPr>
              <a:t>→ 비용 ↑   ·   재현성 ↓   ·   단일 모델 한계 그대로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166360" cy="41148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463040"/>
            <a:ext cx="489204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Helvetica Neue"/>
                <a:ea typeface="Apple SD Gothic Neo"/>
                <a:cs typeface="Helvetica Neue"/>
              </a:rPr>
              <a:t>한계 ②   정적인 에이전트 — 경험 누적 부재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874519"/>
            <a:ext cx="48920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실행 중 hallucination / schema violation이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발생해도 같은 패턴이 다음 실행에서 반복.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ExpeL [Zhao+2024]은 단일 에이전트 경험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누적은 다뤘으나, 팀 단위 집단 메모리는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거의 미연구 영역.</a:t>
            </a:r>
          </a:p>
          <a:p>
            <a:pPr algn="l"/>
          </a:p>
          <a:p>
            <a:pPr algn="l"/>
            <a:r>
              <a:rPr sz="1300" b="1" i="0">
                <a:solidFill>
                  <a:srgbClr val="D97706"/>
                </a:solidFill>
                <a:latin typeface="Helvetica Neue"/>
                <a:ea typeface="Apple SD Gothic Neo"/>
                <a:cs typeface="Helvetica Neue"/>
              </a:rPr>
              <a:t>→ 동일 hallucination이 task마다 반복 관측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69280"/>
            <a:ext cx="10927080" cy="77724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27080" cy="7772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이 두 한계의 교차점이 본 연구의 출발점입니다.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라이브 데모 — CompaniAI v1.1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201168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6400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🎬  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1832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Mock 모드 38초 압축  ·  실제는 5–10분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187" y="42062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71319" y="4343400"/>
            <a:ext cx="502920" cy="50292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6627" y="4983479"/>
            <a:ext cx="242316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"Todo REST API" 한 문장 입력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6947" y="42062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3079" y="434340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4983479"/>
            <a:ext cx="242316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CTO 전략 → 작업 분해 → SLM 병렬 실행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8707" y="42062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4839" y="434340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4983479"/>
            <a:ext cx="242316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Q&amp;A · 회의 · 피어 리뷰 시각화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0467" y="42062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26599" y="434340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1907" y="4983479"/>
            <a:ext cx="242316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자동 다운로드 + 산출물 미리보기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[화면 전환 → 데모 페이지]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데모에서 보신 것 + 자연스럽게 도출되는 RQ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74903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572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4338CA"/>
                </a:solidFill>
                <a:latin typeface="Helvetica Neue"/>
                <a:ea typeface="Apple SD Gothic Neo"/>
                <a:cs typeface="Helvetica Neue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2971799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500" b="1" i="0">
                <a:solidFill>
                  <a:srgbClr val="4338CA"/>
                </a:solidFill>
                <a:latin typeface="Helvetica Neue"/>
                <a:ea typeface="Apple SD Gothic Neo"/>
                <a:cs typeface="Helvetica Neue"/>
              </a:rPr>
              <a:t>자율성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3383279" cy="8686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한 문장 → 5개 task 자동 분해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280160"/>
            <a:ext cx="374903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17320"/>
            <a:ext cx="4572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7C3AED"/>
                </a:solidFill>
                <a:latin typeface="Helvetica Neue"/>
                <a:ea typeface="Apple SD Gothic Neo"/>
                <a:cs typeface="Helvetica Neue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1417320"/>
            <a:ext cx="2971799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Helvetica Neue"/>
                <a:ea typeface="Apple SD Gothic Neo"/>
                <a:cs typeface="Helvetica Neue"/>
              </a:rPr>
              <a:t>협업의 깊이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874519"/>
            <a:ext cx="3383279" cy="8686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Q&amp;A · 회의 · 피어 리뷰 (각각 다른 의미)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280160"/>
            <a:ext cx="374903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1417320"/>
            <a:ext cx="4572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200" b="1" i="0">
                <a:solidFill>
                  <a:srgbClr val="0D9488"/>
                </a:solidFill>
                <a:latin typeface="Helvetica Neue"/>
                <a:ea typeface="Apple SD Gothic Neo"/>
                <a:cs typeface="Helvetica Neue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39" y="1417320"/>
            <a:ext cx="2971799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  <a:latin typeface="Helvetica Neue"/>
                <a:ea typeface="Apple SD Gothic Neo"/>
                <a:cs typeface="Helvetica Neue"/>
              </a:rPr>
              <a:t>추적성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1874519"/>
            <a:ext cx="3383279" cy="8686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대화 내용이 실제 코드 결정에 반영</a:t>
            </a:r>
            <a:br/>
            <a:r>
              <a:t>PATCH=Merge Patch · POST=201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이 시스템 운영에서 자연스럽게 떠오른 세 의문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3749039" cy="2286000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3749039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RQ1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3383279" cy="12801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동일 자원에서</a:t>
            </a:r>
            <a:br/>
            <a:r>
              <a:t>SLM 팀 vs 단일 LLM 우위?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657600"/>
            <a:ext cx="3749039" cy="22860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3886200"/>
            <a:ext cx="3749039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RQ2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4617720"/>
            <a:ext cx="3383279" cy="12801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통신 프로토콜이</a:t>
            </a:r>
            <a:br/>
            <a:r>
              <a:t>정말 최적인가?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59" y="3657600"/>
            <a:ext cx="3749039" cy="22860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59" y="3886200"/>
            <a:ext cx="3749039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RQ3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9" y="4617720"/>
            <a:ext cx="3383279" cy="12801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반복 실수를 어떻게</a:t>
            </a:r>
            <a:br/>
            <a:r>
              <a:t>팀 단위로 기억할까?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시스템 아키텍처 — 4계층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914400" cy="1078992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914400" cy="1078992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L1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325880"/>
            <a:ext cx="85039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371600"/>
            <a:ext cx="82296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  <a:latin typeface="Helvetica Neue"/>
                <a:ea typeface="Apple SD Gothic Neo"/>
                <a:cs typeface="Helvetica Neue"/>
              </a:rPr>
              <a:t>오케스트레이션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37360"/>
            <a:ext cx="8229600" cy="621792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CTO Agent (qwen3:8b) — 전략 → 분해 → 모니터링 → 메모리 조회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1600200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952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04120" y="1600200"/>
            <a:ext cx="146304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4338CA"/>
                </a:solidFill>
                <a:latin typeface="Helvetica Neue"/>
                <a:ea typeface="Apple SD Gothic Neo"/>
                <a:cs typeface="Helvetica Neue"/>
              </a:rPr>
              <a:t>✅ 작동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14600"/>
            <a:ext cx="914400" cy="1078992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914400" cy="1078992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L2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514600"/>
            <a:ext cx="85039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560320"/>
            <a:ext cx="82296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Helvetica Neue"/>
                <a:ea typeface="Apple SD Gothic Neo"/>
                <a:cs typeface="Helvetica Neue"/>
              </a:rPr>
              <a:t>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926080"/>
            <a:ext cx="8229600" cy="621792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Backend (gemma4:e4b)  ·  Frontend (gemma4:e4b)  ·  MLOps (llama3.2:3b)</a:t>
            </a:r>
            <a:br/>
            <a:r>
              <a:t>+ asyncio 병렬 + per-role concurrency limiter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04120" y="2788920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20" y="2788920"/>
            <a:ext cx="146304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  <a:latin typeface="Helvetica Neue"/>
                <a:ea typeface="Apple SD Gothic Neo"/>
                <a:cs typeface="Helvetica Neue"/>
              </a:rPr>
              <a:t>✅ 작동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03320"/>
            <a:ext cx="914400" cy="1078992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914400" cy="1078992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L3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3703320"/>
            <a:ext cx="85039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3749039"/>
            <a:ext cx="82296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Helvetica Neue"/>
                <a:ea typeface="Apple SD Gothic Neo"/>
                <a:cs typeface="Helvetica Neue"/>
              </a:rPr>
              <a:t>통신   ★ RQ2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114800"/>
            <a:ext cx="8229600" cy="621792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SharedWorkspace · MessageQueue · Emergency Meeting · Peer Review</a:t>
            </a:r>
            <a:br/>
            <a:r>
              <a:t>[Protocol A/B/C/D 비교 인터페이스 — 설계 중]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04120" y="3977639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04120" y="3977639"/>
            <a:ext cx="146304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Helvetica Neue"/>
                <a:ea typeface="Apple SD Gothic Neo"/>
                <a:cs typeface="Helvetica Neue"/>
              </a:rPr>
              <a:t>🛠️ 설계 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92040"/>
            <a:ext cx="914400" cy="1078992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92040"/>
            <a:ext cx="914400" cy="1078992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L4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4892040"/>
            <a:ext cx="85039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0200" y="4937759"/>
            <a:ext cx="82296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Helvetica Neue"/>
                <a:ea typeface="Apple SD Gothic Neo"/>
                <a:cs typeface="Helvetica Neue"/>
              </a:rPr>
              <a:t>집단 실수 메모리   ★ RQ3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303520"/>
            <a:ext cx="8229600" cy="621792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Qdrant (벡터) + SQLite (메타) + 자동 규칙 승격 (N≥3)</a:t>
            </a:r>
            <a:br/>
            <a:r>
              <a:t>[석사 1학기 1순위 — 미구현]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5166359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5166359"/>
            <a:ext cx="146304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Helvetica Neue"/>
                <a:ea typeface="Apple SD Gothic Neo"/>
                <a:cs typeface="Helvetica Neue"/>
              </a:rPr>
              <a:t>❌ 미구현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RQ1   동일 FLOPs에서 SLM 팀이 단일 LLM 대비 우위인 task 유형은?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10972800" cy="7772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가설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1069848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Task가 (a) 명확히 분해 가능하고  (b) 역할 전문성이 중요할수록 → SLM 팀 우위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440680" cy="292608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521208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Helvetica Neue"/>
                <a:ea typeface="Apple SD Gothic Neo"/>
                <a:cs typeface="Helvetica Neue"/>
              </a:rPr>
              <a:t>Baseline (단일 LLM)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521208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20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Llama 3.1 70B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521208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단일 호출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521208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Menlo"/>
                <a:ea typeface="Menlo"/>
                <a:cs typeface="Menlo"/>
              </a:rPr>
              <a:t>총 ~70B 파라미터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521208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모든 컨텍스트 한 번에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86000"/>
            <a:ext cx="5440680" cy="29260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521208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Helvetica Neue"/>
                <a:ea typeface="Apple SD Gothic Neo"/>
                <a:cs typeface="Helvetica Neue"/>
              </a:rPr>
              <a:t>Treatment (SLM 팀)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88036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521208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qwen3:8b + gemma4:e4b × 2 + llama3.2:3b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521208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역할 특화 병렬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21208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Menlo"/>
                <a:ea typeface="Menlo"/>
                <a:cs typeface="Menlo"/>
              </a:rPr>
              <a:t>총 ~17B 파라미터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34840"/>
            <a:ext cx="521208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동일 FLOPs 제어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40680"/>
            <a:ext cx="10972800" cy="9601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77256"/>
            <a:ext cx="1069848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측정 지표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852160"/>
            <a:ext cx="26517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52160"/>
            <a:ext cx="265176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4338CA"/>
                </a:solidFill>
                <a:latin typeface="Helvetica Neue"/>
                <a:ea typeface="Apple SD Gothic Neo"/>
                <a:cs typeface="Helvetica Neue"/>
              </a:rPr>
              <a:t>정확도/완성도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5852160"/>
            <a:ext cx="26517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5852160"/>
            <a:ext cx="265176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Helvetica Neue"/>
                <a:ea typeface="Apple SD Gothic Neo"/>
                <a:cs typeface="Helvetica Neue"/>
              </a:rPr>
              <a:t>End-to-end Latency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5852160"/>
            <a:ext cx="26517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5852160"/>
            <a:ext cx="265176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Helvetica Neue"/>
                <a:ea typeface="Apple SD Gothic Neo"/>
                <a:cs typeface="Helvetica Neue"/>
              </a:rPr>
              <a:t>FLOPs / 토큰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5852160"/>
            <a:ext cx="26517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5852160"/>
            <a:ext cx="265176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  <a:latin typeface="Helvetica Neue"/>
                <a:ea typeface="Apple SD Gothic Neo"/>
                <a:cs typeface="Helvetica Neue"/>
              </a:rPr>
              <a:t>Cross-task 일반화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RQ2 ★   에이전트 간 통신 프로토콜의 설계 원칙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743200"/>
                <a:gridCol w="2194560"/>
                <a:gridCol w="1828800"/>
                <a:gridCol w="292608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40AF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프로토콜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40AF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메시지 인코딩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40AF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라우팅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40AF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예상 토큰/task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40AF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비고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4338CA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Protocol 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자유 자연어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broadcast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~2,000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자연스러우나 토큰 비효율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D9488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Protocol B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JSON 구조화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targeted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~800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현재 compani_ai 사용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D97706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Protocol C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CoT + summary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broadcast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~1,400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투명, 토큰 증가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DC2626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Protocol D ★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Importance-filtered (top-K)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scored routing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DC2626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~600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DC2626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신규 제안 — 효과 검증 필요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657600"/>
            <a:ext cx="11247120" cy="17373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Helvetica Neue"/>
                <a:ea typeface="Apple SD Gothic Neo"/>
                <a:cs typeface="Helvetica Neue"/>
              </a:rPr>
              <a:t>Protocol D 의 importance score (초기값)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10972800" cy="6400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800" b="1" i="0">
                <a:solidFill>
                  <a:srgbClr val="111827"/>
                </a:solidFill>
                <a:latin typeface="Menlo"/>
                <a:ea typeface="Menlo"/>
                <a:cs typeface="Menlo"/>
              </a:rPr>
              <a:t>importance(msg) = 0.4 · relevance + 0.3 · recency + 0.3 · 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972800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relevance: cosine sim with task embedding   ·   recency: exp decay   ·   severity: CRITICAL/MAJOR/MINOR/INFO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53212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측정 + 추가 ablation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72800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통신 토큰 · 오류 전파율 · Task 완성률 · Latency  +  Protocol D 가중치 그리드 서치 (3³ × 3 = 27 조합)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RQ3 ★   집단 실수 메모리 (CEM) 의 효과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11480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384048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4338CA"/>
                </a:solidFill>
                <a:latin typeface="Helvetica Neue"/>
                <a:ea typeface="Apple SD Gothic Neo"/>
                <a:cs typeface="Helvetica Neue"/>
              </a:rPr>
              <a:t>ErrorEvent 스키마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3840480" cy="32461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 i="0">
                <a:solidFill>
                  <a:srgbClr val="DB2777"/>
                </a:solidFill>
                <a:latin typeface="Menlo"/>
                <a:ea typeface="Menlo"/>
                <a:cs typeface="Menlo"/>
              </a:rPr>
              <a:t>error_code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Menlo"/>
                <a:ea typeface="Menlo"/>
                <a:cs typeface="Menlo"/>
              </a:rPr>
              <a:t>E-LLM-TIMEOUT, E-PARSE-JSON, ...</a:t>
            </a:r>
          </a:p>
          <a:p>
            <a:pPr algn="l"/>
            <a:r>
              <a:rPr sz="1100" b="1" i="0">
                <a:solidFill>
                  <a:srgbClr val="DB2777"/>
                </a:solidFill>
                <a:latin typeface="Menlo"/>
                <a:ea typeface="Menlo"/>
                <a:cs typeface="Menlo"/>
              </a:rPr>
              <a:t>agent_id  ·  task_id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발생 주체와 컨텍스트</a:t>
            </a:r>
          </a:p>
          <a:p>
            <a:pPr algn="l"/>
            <a:r>
              <a:rPr sz="1100" b="1" i="0">
                <a:solidFill>
                  <a:srgbClr val="DB2777"/>
                </a:solidFill>
                <a:latin typeface="Menlo"/>
                <a:ea typeface="Menlo"/>
                <a:cs typeface="Menlo"/>
              </a:rPr>
              <a:t>context (embedded)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발생 시점 컨텍스트 임베딩</a:t>
            </a:r>
          </a:p>
          <a:p>
            <a:pPr algn="l"/>
            <a:r>
              <a:rPr sz="1100" b="1" i="0">
                <a:solidFill>
                  <a:srgbClr val="DB2777"/>
                </a:solidFill>
                <a:latin typeface="Menlo"/>
                <a:ea typeface="Menlo"/>
                <a:cs typeface="Menlo"/>
              </a:rPr>
              <a:t>severity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MINOR / MAJOR / CRITICAL</a:t>
            </a:r>
          </a:p>
          <a:p>
            <a:pPr algn="l"/>
            <a:r>
              <a:rPr sz="1100" b="1" i="0">
                <a:solidFill>
                  <a:srgbClr val="DB2777"/>
                </a:solidFill>
                <a:latin typeface="Menlo"/>
                <a:ea typeface="Menlo"/>
                <a:cs typeface="Menlo"/>
              </a:rPr>
              <a:t>recurrence_count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같은 패턴 누적 횟수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280160"/>
            <a:ext cx="6766560" cy="77724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6766560" cy="7772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실수 발생 (자동 캡처)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321040" y="2103120"/>
            <a:ext cx="0" cy="22860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37760" y="2331720"/>
            <a:ext cx="6766560" cy="777240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331720"/>
            <a:ext cx="6766560" cy="7772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Qdrant (벡터) + SQLite (메타데이터)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1040" y="3154680"/>
            <a:ext cx="0" cy="22860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37760" y="3383280"/>
            <a:ext cx="6766560" cy="77724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383280"/>
            <a:ext cx="676656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새 task 시작 시 — 유사도 검색 (top-5)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703320"/>
            <a:ext cx="676656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과거 실수 → CTO 프롬프트 주입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0" y="4206240"/>
            <a:ext cx="0" cy="22860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37760" y="4434840"/>
            <a:ext cx="6766560" cy="77724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4434840"/>
            <a:ext cx="676656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🔔  N≥3 회 반복 → 자동 방지 규칙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754880"/>
            <a:ext cx="676656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모든 SLM의 system prompt에 고정 삽입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49240"/>
            <a:ext cx="11247120" cy="10515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413248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비교 조건 (반복 오류율 감소 곡선 측정)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0644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269748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(a) none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580644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5806440"/>
            <a:ext cx="269748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  <a:latin typeface="Helvetica Neue"/>
                <a:ea typeface="Apple SD Gothic Neo"/>
                <a:cs typeface="Helvetica Neue"/>
              </a:rPr>
              <a:t>(b) per-agent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580644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5806440"/>
            <a:ext cx="269748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4338CA"/>
                </a:solidFill>
                <a:latin typeface="Helvetica Neue"/>
                <a:ea typeface="Apple SD Gothic Neo"/>
                <a:cs typeface="Helvetica Neue"/>
              </a:rPr>
              <a:t>(c) shared CEM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580644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5806440"/>
            <a:ext cx="269748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DB2777"/>
                </a:solidFill>
                <a:latin typeface="Helvetica Neue"/>
                <a:ea typeface="Apple SD Gothic Neo"/>
                <a:cs typeface="Helvetica Neue"/>
              </a:rPr>
              <a:t>(d) (c) + auto-rule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세 RQ의 위계 — Incremental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589520" cy="1097280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1463040"/>
            <a:ext cx="3200400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실험 1   (RQ1)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463040"/>
            <a:ext cx="3749040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단일 LLM vs 다중 SLM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65960"/>
            <a:ext cx="722376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어느 task 에서 SLM 팀 우위인가?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514600"/>
            <a:ext cx="0" cy="320040"/>
          </a:xfrm>
          <a:prstGeom prst="line">
            <a:avLst/>
          </a:prstGeom>
          <a:ln w="31750">
            <a:solidFill>
              <a:srgbClr val="4338C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63640" y="2514600"/>
            <a:ext cx="41148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0" i="1">
                <a:solidFill>
                  <a:srgbClr val="4338CA"/>
                </a:solidFill>
                <a:latin typeface="Helvetica Neue"/>
                <a:ea typeface="Apple SD Gothic Neo"/>
                <a:cs typeface="Helvetica Neue"/>
              </a:rPr>
              <a:t>(SLM 팀 우위 확인 시)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880360"/>
            <a:ext cx="7589520" cy="109728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971800"/>
            <a:ext cx="3200400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실험 2   (RQ2)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971800"/>
            <a:ext cx="3749040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Protocol A / B / C / D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74720"/>
            <a:ext cx="722376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어떤 통신 방식이 정확성 + 속도?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4023359"/>
            <a:ext cx="0" cy="320041"/>
          </a:xfrm>
          <a:prstGeom prst="line">
            <a:avLst/>
          </a:prstGeom>
          <a:ln w="317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63640" y="4023359"/>
            <a:ext cx="41148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0" i="1">
                <a:solidFill>
                  <a:srgbClr val="7C3AED"/>
                </a:solidFill>
                <a:latin typeface="Helvetica Neue"/>
                <a:ea typeface="Apple SD Gothic Neo"/>
                <a:cs typeface="Helvetica Neue"/>
              </a:rPr>
              <a:t>(최적 프로토콜 확정 후)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389120"/>
            <a:ext cx="7589520" cy="109728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4480559"/>
            <a:ext cx="3200400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실험 3   (RQ3)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480559"/>
            <a:ext cx="3749040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CEM 효과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983480"/>
            <a:ext cx="722376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with 최적 프로토콜 — 반복 오류 감소?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각 실험이 다음 실험의 입력 변수가 되는 단계적 설계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실험 1   단일 LLM vs 다중 SLM   (3–4 개월차)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572000"/>
                <a:gridCol w="457200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E40AF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조건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E40AF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Baseline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E40AF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Treatment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563EB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모델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Llama 3.1 70B  (단일)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qwen3:8b + gemma4:e4b × 2 + llama3.2:3b</a:t>
                      </a:r>
                      <a:br/>
                      <a:r>
                        <a:t>(SLM 팀, 합산 ~17B)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563EB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FLOPs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동일 조건 (제어)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동일 조건 (제어)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563EB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Task suite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compani_ai 5개 reference + HumanEval + OLaLA 일부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compani_ai 5개 reference + HumanEval + OLaLA 일부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563EB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측정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정확도/완성도 · End-to-end Latency · FLOPs · 토큰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정확도/완성도 · End-to-end Latency · FLOPs · 토큰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800600"/>
            <a:ext cx="11247120" cy="16916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예상 결과 시나리오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349240"/>
            <a:ext cx="51663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Helvetica Neue"/>
                <a:ea typeface="Apple SD Gothic Neo"/>
                <a:cs typeface="Helvetica Neue"/>
              </a:rPr>
              <a:t>단순 단일-step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69280"/>
            <a:ext cx="51663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→ 단일 LLM 우위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51663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(예: 단일 함수 생성)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525780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349240"/>
            <a:ext cx="51663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Helvetica Neue"/>
                <a:ea typeface="Apple SD Gothic Neo"/>
                <a:cs typeface="Helvetica Neue"/>
              </a:rPr>
              <a:t>복합 다중 모듈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669280"/>
            <a:ext cx="51663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→ SLM 팀 우위 (가설)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989320"/>
            <a:ext cx="51663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(예: backend + frontend + deploy)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실험 2   통신 프로토콜 비교   (5–7 개월차)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57400"/>
                <a:gridCol w="2057400"/>
                <a:gridCol w="2057400"/>
                <a:gridCol w="205740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E40AF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지표 \ 프로토콜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4338CA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A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D9488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B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D97706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C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DC2626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D ★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통신 토큰 / task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Menlo"/>
                          <a:ea typeface="Menlo"/>
                          <a:cs typeface="Menlo"/>
                        </a:rPr>
                        <a:t>~2,000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Menlo"/>
                          <a:ea typeface="Menlo"/>
                          <a:cs typeface="Menlo"/>
                        </a:rPr>
                        <a:t>~800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Menlo"/>
                          <a:ea typeface="Menlo"/>
                          <a:cs typeface="Menlo"/>
                        </a:rPr>
                        <a:t>~1,400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C2626"/>
                          </a:solidFill>
                          <a:latin typeface="Menlo"/>
                          <a:ea typeface="Menlo"/>
                          <a:cs typeface="Menlo"/>
                        </a:rPr>
                        <a:t>~600 ?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Task 완성률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?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?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?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C2626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?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End-to-end Latency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?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?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?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C2626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?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오류 전파율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?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?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?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C2626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?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800600"/>
            <a:ext cx="11247120" cy="16916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864608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추가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349240"/>
            <a:ext cx="51663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Helvetica Neue"/>
                <a:ea typeface="Apple SD Gothic Neo"/>
                <a:cs typeface="Helvetica Neue"/>
              </a:rPr>
              <a:t>Protocol D 가중치 ablation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69280"/>
            <a:ext cx="51663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3³ × 3 = 27 조합 그리드 서치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51663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(관련성 · 최신성 · 심각도)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525780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349240"/>
            <a:ext cx="51663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Helvetica Neue"/>
                <a:ea typeface="Apple SD Gothic Neo"/>
                <a:cs typeface="Helvetica Neue"/>
              </a:rPr>
              <a:t>검증 도메인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669280"/>
            <a:ext cx="51663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compani_ai 5개  +  OLaLA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989320"/>
            <a:ext cx="51663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동일 task suite + 동일 SLM 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실험 3   집단 실수 메모리 효과   (8–10 개월차)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2560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846320"/>
                <a:gridCol w="3200400"/>
              </a:tblGrid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E40AF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메모리 조건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E40AF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반복 오류율 (10회 실행 후)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E40AF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예상 변화</a:t>
                      </a:r>
                    </a:p>
                  </a:txBody>
                  <a:tcPr marL="76200" marR="76200" marT="50800" marB="50800" anchor="ctr">
                    <a:solidFill>
                      <a:srgbClr val="EFF6FF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6B7280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(a)  메모리 없음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기준선 (baseline)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D9488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(b)  per-agent 메모리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0D9488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감소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개인 학습 효과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4338CA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(c)  shared CEM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4338CA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(b) 보다 큰 감소 (가설)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cross-agent 학습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C2626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(d)  shared + 자동 규칙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DC2626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(c) 위 추가 감소 (가설)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Helvetica Neue"/>
                          <a:ea typeface="Apple SD Gothic Neo"/>
                          <a:cs typeface="Helvetica Neue"/>
                        </a:rPr>
                        <a:t>선제적 방지</a:t>
                      </a:r>
                    </a:p>
                  </a:txBody>
                  <a:tcPr marL="76200" marR="76200" marT="50800" marB="50800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023360"/>
            <a:ext cx="11247120" cy="16916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검증 가설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H3-1     (a) → (c) 로 갈수록 N회 후 오류율 단조 감소</a:t>
            </a:r>
          </a:p>
          <a:p>
            <a:pPr algn="l"/>
            <a:r>
              <a:rPr sz="12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H3-2     (c) vs (d) 비교에서 (d) 가 추가 감소</a:t>
            </a:r>
          </a:p>
          <a:p>
            <a:pPr algn="l"/>
            <a:r>
              <a:rPr sz="12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H3-3     Cross-agent 오류는 (b) 보다 (c) 에서 큰 감소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85216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972800" cy="59436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Helvetica Neue"/>
                <a:ea typeface="Apple SD Gothic Neo"/>
                <a:cs typeface="Helvetica Neue"/>
              </a:rPr>
              <a:t>⚠   False positive 모니터링 — 잘못 학습된 방지 규칙 비율 (안전장치 검증)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학술적 위치 — 본 연구의 차별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기존 연구 대부분은 한 axis 만 다룬다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36576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55648"/>
            <a:ext cx="338328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4338CA"/>
                </a:solidFill>
                <a:latin typeface="Helvetica Neue"/>
                <a:ea typeface="Apple SD Gothic Neo"/>
                <a:cs typeface="Helvetica Neue"/>
              </a:rPr>
              <a:t>ChatDev / MetaGPT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20824"/>
            <a:ext cx="338328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단일 LLM, 통신만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91640"/>
            <a:ext cx="36576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755648"/>
            <a:ext cx="338328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Helvetica Neue"/>
                <a:ea typeface="Apple SD Gothic Neo"/>
                <a:cs typeface="Helvetica Neue"/>
              </a:rPr>
              <a:t>ExpeL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20824"/>
            <a:ext cx="338328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단일 에이전트, 메모리만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91640"/>
            <a:ext cx="36576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755648"/>
            <a:ext cx="338328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Helvetica Neue"/>
                <a:ea typeface="Apple SD Gothic Neo"/>
                <a:cs typeface="Helvetica Neue"/>
              </a:rPr>
              <a:t>ProtocolBench (2025)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020824"/>
            <a:ext cx="338328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통신만, 메모리 무시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1" i="1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본 연구는 세 axis 를 동시에 변수로 다룬다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0896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73552"/>
            <a:ext cx="365760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3291840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단일 LLM ↔ 다중 SLM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10896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3273552"/>
            <a:ext cx="365760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통신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794760"/>
            <a:ext cx="3291840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A / B / C / 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10896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273552"/>
            <a:ext cx="3657600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메모리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3794760"/>
            <a:ext cx="3291840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none / per-agent / shared CEM / + rule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63440"/>
            <a:ext cx="11247120" cy="10972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특히 (통신) × (메모리) 의 상호작용은 미연구 영역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66360"/>
            <a:ext cx="1097280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0" i="1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"통신 품질이 메모리 품질을 결정한다" 는 가설 자체가 새로운 학술 contribution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핵심 참조: ChatDev (ACL 2024) · MetaGPT (ICLR 2024) · ExpeL (AAAI 2024) · ProtocolBench (arXiv 2510.17149) · MemRL (arXiv 2601.03192)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연구 일정 (12개월)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188720"/>
            <a:ext cx="96012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Menlo"/>
                <a:ea typeface="Menlo"/>
                <a:cs typeface="Menlo"/>
              </a:rPr>
              <a:t>0    1    2    3    4    5    6    7    8    9    10   11   12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155448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554480" cy="7315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0–2 개월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691640"/>
            <a:ext cx="1554480" cy="731520"/>
          </a:xfrm>
          <a:prstGeom prst="roundRect">
            <a:avLst>
              <a:gd name="adj" fmla="val 6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728216"/>
            <a:ext cx="1417320" cy="329184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057400"/>
            <a:ext cx="141732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핵심 논문 정독 + 환경 정비 + compani_ai 코드 정리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87752"/>
            <a:ext cx="155448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87752"/>
            <a:ext cx="1554480" cy="7315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4338CA"/>
                </a:solidFill>
                <a:latin typeface="Helvetica Neue"/>
                <a:ea typeface="Apple SD Gothic Neo"/>
                <a:cs typeface="Helvetica Neue"/>
              </a:rPr>
              <a:t>3–4 개월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587752"/>
            <a:ext cx="1554480" cy="731520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2624328"/>
            <a:ext cx="1417320" cy="329184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실험 1 (RQ1)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2953512"/>
            <a:ext cx="141732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단일 LLM vs SLM 팀 비교 — 워크샵 논문 초안 시도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83864"/>
            <a:ext cx="155448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83864"/>
            <a:ext cx="1554480" cy="7315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Helvetica Neue"/>
                <a:ea typeface="Apple SD Gothic Neo"/>
                <a:cs typeface="Helvetica Neue"/>
              </a:rPr>
              <a:t>5–7 개월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483864"/>
            <a:ext cx="2354580" cy="73152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3520440"/>
            <a:ext cx="2217420" cy="329184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실험 2 (RQ2)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3849624"/>
            <a:ext cx="221742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Protocol A/B/C/D 비교 + Protocol D 신규 구현 + 가중치 최적화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79976"/>
            <a:ext cx="155448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379976"/>
            <a:ext cx="1554480" cy="7315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Helvetica Neue"/>
                <a:ea typeface="Apple SD Gothic Neo"/>
                <a:cs typeface="Helvetica Neue"/>
              </a:rPr>
              <a:t>8–10 개월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03820" y="4379976"/>
            <a:ext cx="2354580" cy="73152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5260" y="4416552"/>
            <a:ext cx="2217420" cy="329184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실험 3 (RQ3)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5260" y="4745736"/>
            <a:ext cx="221742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CEM 시스템 구현 + 반복 오류 감소 검증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276088"/>
            <a:ext cx="155448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276088"/>
            <a:ext cx="1554480" cy="7315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  <a:latin typeface="Helvetica Neue"/>
                <a:ea typeface="Apple SD Gothic Neo"/>
                <a:cs typeface="Helvetica Neue"/>
              </a:rPr>
              <a:t>11–12 개월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5276088"/>
            <a:ext cx="1554480" cy="73152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5312664"/>
            <a:ext cx="1417320" cy="329184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통합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5641848"/>
            <a:ext cx="141732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결과 종합 + 논문 작성 — KCC / ACL workshop / EMNLP findings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연구 한계 + 보완 계획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5321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532120" cy="50292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25780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①  실험 자원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39"/>
            <a:ext cx="5166359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166359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16GB Mac 단독으로 GPT-4 baseline 비교 어려움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5166359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 i="1">
                <a:solidFill>
                  <a:srgbClr val="DC2626"/>
                </a:solidFill>
                <a:latin typeface="Helvetica Neue"/>
                <a:ea typeface="Apple SD Gothic Neo"/>
                <a:cs typeface="Helvetica Neue"/>
              </a:rPr>
              <a:t>보완 계획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5166359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→ 연구실 자원 / 클라우드 학생 크레딧 활용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55321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5532120" cy="50292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80160"/>
            <a:ext cx="525780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②  검증 도메인의 generalizability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39"/>
            <a:ext cx="5166359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문제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40280"/>
            <a:ext cx="5166359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compani_ai (코드) + OLaLA (가짜뉴스) 두 도메인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88920"/>
            <a:ext cx="5166359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 i="1">
                <a:solidFill>
                  <a:srgbClr val="D97706"/>
                </a:solidFill>
                <a:latin typeface="Helvetica Neue"/>
                <a:ea typeface="Apple SD Gothic Neo"/>
                <a:cs typeface="Helvetica Neue"/>
              </a:rPr>
              <a:t>보완 계획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08960"/>
            <a:ext cx="5166359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→ HumanEval / ProtocolBench task suite 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1"/>
            <a:ext cx="55321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822191"/>
            <a:ext cx="5532120" cy="50292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22191"/>
            <a:ext cx="525780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③  CEM 의 noise 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62272"/>
            <a:ext cx="5166359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문제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82312"/>
            <a:ext cx="5166359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false positive 방지 규칙이 품질 저하 유발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30952"/>
            <a:ext cx="5166359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 i="1">
                <a:solidFill>
                  <a:srgbClr val="7C3AED"/>
                </a:solidFill>
                <a:latin typeface="Helvetica Neue"/>
                <a:ea typeface="Apple SD Gothic Neo"/>
                <a:cs typeface="Helvetica Neue"/>
              </a:rPr>
              <a:t>보완 계획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50992"/>
            <a:ext cx="5166359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→ confidence threshold + 외부 검증 (테스트 통과율)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822191"/>
            <a:ext cx="55321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26480" y="3822191"/>
            <a:ext cx="5532120" cy="50292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822191"/>
            <a:ext cx="525780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④  Protocol D 가중치의 임의성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462272"/>
            <a:ext cx="5166359" cy="411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 i="1">
                <a:solidFill>
                  <a:srgbClr val="6B7280"/>
                </a:solidFill>
                <a:latin typeface="Helvetica Neue"/>
                <a:ea typeface="Apple SD Gothic Neo"/>
                <a:cs typeface="Helvetica Neue"/>
              </a:rPr>
              <a:t>문제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782312"/>
            <a:ext cx="5166359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초기값 0.4/0.3/0.3 은 직관 기반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330952"/>
            <a:ext cx="5166359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 i="1">
                <a:solidFill>
                  <a:srgbClr val="0D9488"/>
                </a:solidFill>
                <a:latin typeface="Helvetica Neue"/>
                <a:ea typeface="Apple SD Gothic Neo"/>
                <a:cs typeface="Helvetica Neue"/>
              </a:rPr>
              <a:t>보완 계획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650992"/>
            <a:ext cx="5166359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→ 그리드 서치 (27 조합) + 메타러닝 최적화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5321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532120" cy="502920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25780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①  Baseline 시스템 작동 검증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166359" cy="1463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compani_ai_dev3 — 470+ 단위 테스트, 16GB Mac 동작</a:t>
            </a:r>
            <a:br/>
            <a:r>
              <a:t>실험 baseline 부재로 인한 시간 낭비 없음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55321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5532120" cy="50292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525780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②  RQ 의 학술적 위치가 명확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5166359" cy="1463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통신 × 메모리 의 상호작용 — 미연구 axis</a:t>
            </a:r>
            <a:br/>
            <a:r>
              <a:t>Protocol D 신규 제안 + 집단 메모리 자동 규칙화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85032"/>
            <a:ext cx="55321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685032"/>
            <a:ext cx="5532120" cy="50292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685032"/>
            <a:ext cx="525780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③  12개월 일정의 incremental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70832"/>
            <a:ext cx="5166359" cy="1463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RQ1 (기반 검증) → RQ2 (통신 최적화) → RQ3 (메모리)</a:t>
            </a:r>
            <a:br/>
            <a:r>
              <a:t>각 실험이 다음 실험의 입력 변수가 되는 구조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685032"/>
            <a:ext cx="55321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3685032"/>
            <a:ext cx="5532120" cy="50292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685032"/>
            <a:ext cx="5257800" cy="5029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④  검증 도메인 다양성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370832"/>
            <a:ext cx="5166359" cy="1463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compani_ai (코드 생성) + OLaLA (가짜뉴스)</a:t>
            </a:r>
            <a:br/>
            <a:r>
              <a:t>+ 표준 벤치 (HumanEval / ProtocolBench)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22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감사합니다.   ·   Q &amp; 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[백업]   시스템 상세 — 통신 의미론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749039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749039" cy="548640"/>
          </a:xfrm>
          <a:prstGeom prst="roundRect">
            <a:avLst>
              <a:gd name="adj" fmla="val 6000"/>
            </a:avLst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474720" cy="5486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SharedWorkspace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8327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• 모든 에이전트는 직접 호출하지 않음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• 오직 SharedWorkspace 만 read/write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• WorkItem 상태 변화 → EventBus broadcast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• 의존성 에이전트는 WorkItem.completed 이벤트까지 polling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280160"/>
            <a:ext cx="3749039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79" y="1280160"/>
            <a:ext cx="3749039" cy="54864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80160"/>
            <a:ext cx="3474720" cy="5486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MessageQueue 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965960"/>
            <a:ext cx="338327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• point-to-point 메시지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• SQLite-backed, 응답 받기까지 dequeue 보장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• asyncio.wait_for 로 timeout 보호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• 응답이 오지 않으면 escalate or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280160"/>
            <a:ext cx="3749039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59" y="1280160"/>
            <a:ext cx="3749039" cy="54864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280160"/>
            <a:ext cx="3474720" cy="5486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Emergency Meeting 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1965960"/>
            <a:ext cx="338327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• blocking.detected (의존성 충돌)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• peer_review.severity ≥ MAJOR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• stage_gate.failure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• 최종 결정 = CTO 종합 판단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Helvetica Neue"/>
                <a:ea typeface="Apple SD Gothic Neo"/>
                <a:cs typeface="Helvetica Neue"/>
              </a:rPr>
              <a:t>[백업]   데모 비상 시 — 사전 캡처 화면 안내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Helvetica Neue"/>
                <a:ea typeface="Apple SD Gothic Neo"/>
                <a:cs typeface="Helvetica Neue"/>
              </a:rPr>
              <a:t>데모가 멈췄을 때 — 보여줄 화면 4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1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"지금 시스템은 사전 정의된 시나리오로 시연하지만, 이게 평소 시스템의 실제 동작 결과 화면입니다."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27889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40180" y="2743200"/>
            <a:ext cx="822960" cy="8229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2423160" cy="91440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Stage Card 5개</a:t>
            </a:r>
            <a:br/>
            <a:r>
              <a:t>모두 ✅ 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2468880"/>
            <a:ext cx="27889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74820" y="2743200"/>
            <a:ext cx="822960" cy="8229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749039"/>
            <a:ext cx="2423160" cy="91440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Task 진행 상세</a:t>
            </a:r>
            <a:br/>
            <a:r>
              <a:t>5개 task 모두 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2468880"/>
            <a:ext cx="27889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09459" y="274320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749039"/>
            <a:ext cx="2423160" cy="91440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결과 카드 + 산출물 트리</a:t>
            </a:r>
            <a:br/>
            <a:r>
              <a:t>exit_code =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19" y="2468880"/>
            <a:ext cx="27889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44100" y="2743200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Helvetica Neue"/>
                <a:ea typeface="Apple SD Gothic Neo"/>
                <a:cs typeface="Helvetica Neue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999" y="3749039"/>
            <a:ext cx="2423160" cy="91440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outputs/todo-rest-api-mock/</a:t>
            </a:r>
            <a:br/>
            <a:r>
              <a:t>backend/main.py 코드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74920"/>
            <a:ext cx="11247120" cy="132588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Helvetica Neue"/>
                <a:ea typeface="Apple SD Gothic Neo"/>
                <a:cs typeface="Helvetica Neue"/>
              </a:rPr>
              <a:t>발표 직전 점검 요약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Helvetica Neue"/>
                <a:ea typeface="Apple SD Gothic Neo"/>
                <a:cs typeface="Helvetica Neue"/>
              </a:rPr>
              <a:t>🟢 MOCK 토글  ·  Stage 카드 5개 ○ pending  ·  메시지 로그 비움  ·  다운로드 폴더 비움</a:t>
            </a:r>
            <a:br/>
            <a:r>
              <a:t>Teams/Notion/Discord 종료  ·  화면 sleep OFF  ·  외부 모니터 폰트 가독성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